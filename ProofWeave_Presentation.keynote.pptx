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914400"/>
            <a:ext cx="5486400" cy="9144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164592" cy="164592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ProofWeave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5A0"/>
                </a:solidFill>
                <a:latin typeface="Calibri"/>
              </a:defRPr>
            </a:pPr>
            <a:r>
              <a:t>AI 에이전트 데이터 출처 증명 &amp; 결제 프로토콜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1828800" cy="2743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0"/>
              </a:spcAft>
              <a:defRPr sz="1500" b="0">
                <a:solidFill>
                  <a:srgbClr val="A0AFC4"/>
                </a:solidFill>
                <a:latin typeface="Calibri"/>
              </a:defRPr>
            </a:pPr>
            <a:r>
              <a:t>팀원: 허세현, 서승아, 박진환, 박효빈, 장서령</a:t>
            </a:r>
          </a:p>
          <a:p>
            <a:pPr algn="l">
              <a:spcAft>
                <a:spcPts val="950"/>
              </a:spcAft>
              <a:defRPr sz="1500" b="0">
                <a:solidFill>
                  <a:srgbClr val="A0AFC4"/>
                </a:solidFill>
                <a:latin typeface="Calibri"/>
              </a:defRPr>
            </a:pPr>
            <a:r>
              <a:t>AI 심화 캡스톤 디자인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 Black"/>
              </a:defRPr>
            </a:pPr>
            <a:r>
              <a:t>풀고자 하는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32588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32588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20240"/>
            <a:ext cx="594360" cy="59436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1051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콘텐츠 출처 불명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860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FC4"/>
                </a:solidFill>
                <a:latin typeface="Calibri"/>
              </a:defRPr>
            </a:pPr>
            <a:r>
              <a:t>AI 생성 콘텐츠 범람 → "누가, 언제, 어떤 모델로 만들었는가?" 검증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46120"/>
            <a:ext cx="10515600" cy="132588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54864" cy="132588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520440"/>
            <a:ext cx="594360" cy="59436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1071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데이터 거래 인프라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862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FC4"/>
                </a:solidFill>
                <a:latin typeface="Calibri"/>
              </a:defRPr>
            </a:pPr>
            <a:r>
              <a:t>AI 에이전트 간 데이터 거래 인프라 없음 → 직접 크롤링 필요 (비효율)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515600" cy="132588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54864" cy="132588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120640"/>
            <a:ext cx="594360" cy="59436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20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1091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기존 솔루션의 한계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864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FC4"/>
                </a:solidFill>
                <a:latin typeface="Calibri"/>
              </a:defRPr>
            </a:pPr>
            <a:r>
              <a:t>C2PA(중앙 CA 의존), EAS(결제 없음), x402(출처 증명 없음) → 부분적 해결만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 Black"/>
              </a:defRPr>
            </a:pPr>
            <a:r>
              <a:t>ProofWeave = 출처 증명 + 결제 통합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"AI 에이전트가 생성한 데이터의 출처를 블록체인에 기록하고, 다른 에이전트가 검증 후 결제하여 사용할 수 있는 프로토콜"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2377440" cy="457200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377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비교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560320"/>
            <a:ext cx="1828800" cy="457200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C2PA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560320"/>
            <a:ext cx="1828800" cy="457200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560320"/>
            <a:ext cx="1828800" cy="457200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x402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560320"/>
            <a:ext cx="2560320" cy="4572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560320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ProofWeave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237744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017520"/>
            <a:ext cx="226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출처 증명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0175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13632" y="31363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1363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0175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42432" y="31363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2" y="31363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0175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0175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017520"/>
            <a:ext cx="2560320" cy="457200"/>
          </a:xfrm>
          <a:prstGeom prst="rect">
            <a:avLst/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65792" y="31363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31363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74720"/>
            <a:ext cx="237744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74720"/>
            <a:ext cx="226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탈중앙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4747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34747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4747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42432" y="35935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2432" y="35935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4747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71232" y="35935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2" y="35935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474720"/>
            <a:ext cx="2560320" cy="457200"/>
          </a:xfrm>
          <a:prstGeom prst="rect">
            <a:avLst/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65792" y="35935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5792" y="35935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931920"/>
            <a:ext cx="237744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3931920"/>
            <a:ext cx="226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결제 통합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9319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9319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9319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39319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3931920"/>
            <a:ext cx="1828800" cy="4572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571232" y="40507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71232" y="40507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3931920"/>
            <a:ext cx="2560320" cy="457200"/>
          </a:xfrm>
          <a:prstGeom prst="rect">
            <a:avLst/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765792" y="40507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65792" y="40507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389120"/>
            <a:ext cx="237744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4389120"/>
            <a:ext cx="226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특화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43891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43891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43891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43891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4389120"/>
            <a:ext cx="1828800" cy="45720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4389120"/>
            <a:ext cx="1828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0">
                <a:solidFill>
                  <a:srgbClr val="38385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4389120"/>
            <a:ext cx="2560320" cy="457200"/>
          </a:xfrm>
          <a:prstGeom prst="rect">
            <a:avLst/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765792" y="4507992"/>
            <a:ext cx="219456" cy="219456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65792" y="4507992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rial Black"/>
              </a:defRPr>
            </a:pPr>
            <a:r>
              <a:t>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 Black"/>
              </a:defRPr>
            </a:pPr>
            <a:r>
              <a:t>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9601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사용자 계층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[Phase 1] CLI Agent A/B  →  [Phase 2] 웹/앱 + LLM API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5A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515600" cy="9601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960120"/>
          </a:xfrm>
          <a:prstGeom prst="rect">
            <a:avLst/>
          </a:prstGeom>
          <a:solidFill>
            <a:srgbClr val="00B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solidFill>
            <a:srgbClr val="00B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98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Express + viem (TypeScript)  —  /attest, /verify, /pay, /search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5A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10515600" cy="9601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20624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유틸리티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Rust CLI  (Canonical JSON Hasher, AES-256-GCM 암복호화)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937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5A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57800"/>
            <a:ext cx="10515600" cy="9601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57800"/>
            <a:ext cx="54864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544068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440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367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데이터 계층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PostgreSQL (검색)  |  IPFS/Pinata (원본)  |  Base Sepolia Chain (증명)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515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0533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Phase 1은 CLI, Phase 2에서 웹/앱 전환 → 외부 LLM API로 데이터 생성 후 ProofWeave에 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5A0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사용자 흐름: 사전 준비  →  등록  →  검색 / 결제 /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" y="676656"/>
            <a:ext cx="1861261" cy="22860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소유자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8733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08733" y="676656"/>
            <a:ext cx="1861261" cy="2286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8733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8733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생산자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9722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9722" y="676656"/>
            <a:ext cx="1861261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9722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ProofWeave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9722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0711" y="676656"/>
            <a:ext cx="1861261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711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IPFS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0711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Pinata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1700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1700" y="676656"/>
            <a:ext cx="1861261" cy="228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1700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1700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Sepolia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92689" y="676656"/>
            <a:ext cx="1861261" cy="402336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92689" y="676656"/>
            <a:ext cx="1861261" cy="22860"/>
          </a:xfrm>
          <a:prstGeom prst="rect">
            <a:avLst/>
          </a:prstGeom>
          <a:solidFill>
            <a:srgbClr val="00B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2689" y="713232"/>
            <a:ext cx="18612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2689" y="905256"/>
            <a:ext cx="186126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4"/>
                </a:solidFill>
                <a:latin typeface="Calibri"/>
              </a:defRPr>
            </a:pPr>
            <a:r>
              <a:t>소비자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9230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30219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01208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72198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43187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14176" y="1078992"/>
            <a:ext cx="18288" cy="5367528"/>
          </a:xfrm>
          <a:prstGeom prst="rect">
            <a:avLst/>
          </a:prstGeom>
          <a:solidFill>
            <a:srgbClr val="22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1115568"/>
            <a:ext cx="11825935" cy="705002"/>
          </a:xfrm>
          <a:prstGeom prst="rect">
            <a:avLst/>
          </a:prstGeom>
          <a:solidFill>
            <a:srgbClr val="16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1115568"/>
            <a:ext cx="11825935" cy="20116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143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AFC4"/>
                </a:solidFill>
                <a:latin typeface="Calibri"/>
              </a:defRPr>
            </a:pPr>
            <a:r>
              <a:t>사전 준비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8374" y="1489740"/>
            <a:ext cx="7792516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6883" y="139830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526" y="1339596"/>
            <a:ext cx="7746796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deposit() — ETH 예치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8374" y="1734799"/>
            <a:ext cx="3850538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4904" y="1643359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1526" y="1584655"/>
            <a:ext cx="3804818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 /auth/register → API Key 발급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1857146"/>
            <a:ext cx="11825935" cy="1387144"/>
          </a:xfrm>
          <a:prstGeom prst="rect">
            <a:avLst/>
          </a:prstGeom>
          <a:solidFill>
            <a:srgbClr val="0B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1857146"/>
            <a:ext cx="11825935" cy="2011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188457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5A0"/>
                </a:solidFill>
                <a:latin typeface="Calibri"/>
              </a:defRPr>
            </a:pPr>
            <a:r>
              <a:t>생산 및 등록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9363" y="2231318"/>
            <a:ext cx="1879549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4904" y="213987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2515" y="2081174"/>
            <a:ext cx="1833829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 /attest (원본 + 메타데이터, API Key)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27021" y="2335377"/>
            <a:ext cx="7328230" cy="155448"/>
          </a:xfrm>
          <a:prstGeom prst="roundRect">
            <a:avLst/>
          </a:prstGeom>
          <a:solidFill>
            <a:srgbClr val="1A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09317" y="2353665"/>
            <a:ext cx="721850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4"/>
                </a:solidFill>
                <a:latin typeface="Calibri"/>
              </a:defRPr>
            </a:pPr>
            <a:r>
              <a:t>canonical JSON → SHA-256  /  [유료] AES-256-GCM 암호화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0352" y="2668401"/>
            <a:ext cx="1879549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25894" y="2576961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3504" y="2518257"/>
            <a:ext cx="1833829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IPFS 저장 (Pinata)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0352" y="2913460"/>
            <a:ext cx="3850538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6883" y="28220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3504" y="2763316"/>
            <a:ext cx="3804818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attest(contentHash, modelId, offchainRef)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30803" y="3158519"/>
            <a:ext cx="1879549" cy="10058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3643" y="3067079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AFC4"/>
                </a:solidFill>
                <a:latin typeface="Arial Black"/>
              </a:defRPr>
            </a:pPr>
            <a:r>
              <a:t>&lt;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75939" y="3008375"/>
            <a:ext cx="1833829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FC4"/>
                </a:solidFill>
                <a:latin typeface="Calibri"/>
              </a:defRPr>
            </a:pPr>
            <a:r>
              <a:t>attestationId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3280866"/>
            <a:ext cx="11825935" cy="2367380"/>
          </a:xfrm>
          <a:prstGeom prst="rect">
            <a:avLst/>
          </a:prstGeom>
          <a:solidFill>
            <a:srgbClr val="0C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2880" y="3280866"/>
            <a:ext cx="11825935" cy="201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330829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검색 → 결제 → 사용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01792" y="3655038"/>
            <a:ext cx="5821527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64632" y="356359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&lt;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46928" y="3504894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/search?q=defi+security (API Key)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10352" y="3900097"/>
            <a:ext cx="5821527" cy="10058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67872" y="3808657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AFC4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3504" y="3749953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4"/>
                </a:solidFill>
                <a:latin typeface="Calibri"/>
              </a:defRPr>
            </a:pPr>
            <a:r>
              <a:t>attestation 목록 반환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01792" y="4145156"/>
            <a:ext cx="5821527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64632" y="4053716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&lt;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6928" y="3995012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/verify/{contentHash}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10352" y="4390215"/>
            <a:ext cx="5821527" cy="10058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67872" y="4298775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AFC4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83504" y="4240071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4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98010" y="4494274"/>
            <a:ext cx="7328230" cy="155448"/>
          </a:xfrm>
          <a:prstGeom prst="roundRect">
            <a:avLst/>
          </a:prstGeom>
          <a:solidFill>
            <a:srgbClr val="1A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80306" y="4512562"/>
            <a:ext cx="721850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4"/>
                </a:solidFill>
                <a:latin typeface="Calibri"/>
              </a:defRPr>
            </a:pPr>
            <a:r>
              <a:t>[무료] GET /detail 바로  |  [유료] POST /pay → payFrom() → 복호화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01792" y="4827298"/>
            <a:ext cx="5821527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64632" y="473585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&lt;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46928" y="4677154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 /pay  또는  GET /attestations/{id}/detail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10352" y="5072357"/>
            <a:ext cx="3850538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96883" y="4980917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3504" y="4922213"/>
            <a:ext cx="3804818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payFrom(payer, attestationId)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10352" y="5317416"/>
            <a:ext cx="5821527" cy="10058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67872" y="5225976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AFC4"/>
                </a:solidFill>
                <a:latin typeface="Arial Black"/>
              </a:defRPr>
            </a:pPr>
            <a:r>
              <a:t>&gt;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83504" y="5167272"/>
            <a:ext cx="5775807" cy="15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4"/>
                </a:solidFill>
                <a:latin typeface="Calibri"/>
              </a:defRPr>
            </a:pPr>
            <a:r>
              <a:t>평문 데이터 반환 (복호화)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23320" y="5425315"/>
            <a:ext cx="10058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23320" y="5425315"/>
            <a:ext cx="274320" cy="10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297640" y="5425315"/>
            <a:ext cx="10058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370792" y="5412331"/>
            <a:ext cx="1737360" cy="20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SHA-256 검증 완료 → 사용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5A0"/>
                </a:solidFill>
                <a:latin typeface="Calibri"/>
              </a:defRPr>
            </a:pPr>
            <a:r>
              <a:t>핵심:  모든 검색과 거래는 ProofWeave API를 사용하여 가능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 Black"/>
              </a:defRPr>
            </a:pPr>
            <a:r>
              <a:t>활용 오픈소스 &amp; 참조 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A0"/>
                </a:solidFill>
                <a:latin typeface="Calibri"/>
              </a:defRPr>
            </a:pPr>
            <a:r>
              <a:t>참조 프로토콜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029200" cy="11887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A0"/>
                </a:solidFill>
                <a:latin typeface="Calibri"/>
              </a:defRPr>
            </a:pPr>
            <a:r>
              <a:t>Ethereum Attestation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온체인 attestation 등록/조회 패턴 참조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5029200" cy="11887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x402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5A0"/>
                </a:solidFill>
                <a:latin typeface="Calibri"/>
              </a:defRPr>
            </a:pPr>
            <a:r>
              <a:t>Coinbase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HTTP 402 기반 결제 흐름 참조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A0"/>
                </a:solidFill>
                <a:latin typeface="Calibri"/>
              </a:defRPr>
            </a:pPr>
            <a:r>
              <a:t>직접 사용 오픈소스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5029200" cy="9144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54864" cy="9144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OpenZeppelin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UUPS 프록시, Access Control (보안 표준)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5029200" cy="9144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54864" cy="9144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355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스마트 컨트랙트 빌드/테스트 (Hardhat 대비 10배↑ 속도)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97680"/>
            <a:ext cx="5029200" cy="9144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54864" cy="9144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Pinata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IPFS 파일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 Black"/>
              </a:defRPr>
            </a:pPr>
            <a:r>
              <a:t>기술 스택 — 왜 이 기술인가?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658368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영역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3200400" cy="658368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32004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5303520" cy="658368"/>
          </a:xfrm>
          <a:prstGeom prst="rect">
            <a:avLst/>
          </a:prstGeom>
          <a:solidFill>
            <a:srgbClr val="0D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5303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선택 근거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04288"/>
            <a:ext cx="201168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체인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304288"/>
            <a:ext cx="320040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304288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 Sepolia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304288"/>
            <a:ext cx="530352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304288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L2, 가스비 100배↓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62656"/>
            <a:ext cx="201168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62656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컨트랙트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962656"/>
            <a:ext cx="320040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2962656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Solidity + UUPS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62656"/>
            <a:ext cx="530352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962656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업그레이드 가능 + 가스 절약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21024"/>
            <a:ext cx="201168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21024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백엔드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621024"/>
            <a:ext cx="320040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621024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Express + TS + viem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621024"/>
            <a:ext cx="530352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621024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타입 안정성 + 체인 연동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79392"/>
            <a:ext cx="201168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279392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279392"/>
            <a:ext cx="320040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4279392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279392"/>
            <a:ext cx="530352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4279392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검색/인덱싱에 강함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201168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37760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스토리지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937760"/>
            <a:ext cx="320040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4937760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IPFS (Pinata)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937760"/>
            <a:ext cx="5303520" cy="65836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937760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분산 저장 + CID = 해시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596128"/>
            <a:ext cx="201168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596128"/>
            <a:ext cx="18745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유틸리티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5596128"/>
            <a:ext cx="320040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5596128"/>
            <a:ext cx="30632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596128"/>
            <a:ext cx="5303520" cy="658368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596128"/>
            <a:ext cx="516636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A0AFC4"/>
                </a:solidFill>
                <a:latin typeface="Calibri"/>
              </a:defRPr>
            </a:pPr>
            <a:r>
              <a:t>보안 민감 영역 메모리 안전성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TEAM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 Black"/>
              </a:defRPr>
            </a:pPr>
            <a:r>
              <a:t>팀 역할 &amp; 개발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A0"/>
                </a:solidFill>
                <a:latin typeface="Calibri"/>
              </a:defRPr>
            </a:pPr>
            <a:r>
              <a:t>팀원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허세현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스마트 컨트랙트, 아키텍처, 전체 통합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50292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서승아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API 서버 개발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50292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박진환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IPFS 연동, 스토리지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17720"/>
            <a:ext cx="50292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1772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박효빈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프론트/CLI 데모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5029200" cy="77724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장서령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테스트, 문서화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A0"/>
                </a:solidFill>
                <a:latin typeface="Calibri"/>
              </a:defRPr>
            </a:pPr>
            <a:r>
              <a:t>5-Phase 타임라인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148840"/>
            <a:ext cx="320040" cy="320040"/>
          </a:xfrm>
          <a:prstGeom prst="ellipse">
            <a:avLst/>
          </a:prstGeom>
          <a:solidFill>
            <a:srgbClr val="009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2468880"/>
            <a:ext cx="45720" cy="594360"/>
          </a:xfrm>
          <a:prstGeom prst="rect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56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스마트 컨트랙트 개발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084832"/>
            <a:ext cx="1371600" cy="320040"/>
          </a:xfrm>
          <a:prstGeom prst="round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084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완료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2926080"/>
            <a:ext cx="320040" cy="320040"/>
          </a:xfrm>
          <a:prstGeom prst="ellipse">
            <a:avLst/>
          </a:prstGeom>
          <a:solidFill>
            <a:srgbClr val="009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3246120"/>
            <a:ext cx="45720" cy="594360"/>
          </a:xfrm>
          <a:prstGeom prst="rect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56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API 서버 + Rust 유틸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862072"/>
            <a:ext cx="1371600" cy="320040"/>
          </a:xfrm>
          <a:prstGeom prst="round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완료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3703320"/>
            <a:ext cx="320040" cy="32004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20840" y="4023360"/>
            <a:ext cx="45720" cy="594360"/>
          </a:xfrm>
          <a:prstGeom prst="rect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A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프론트엔드/CLI 데모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3639312"/>
            <a:ext cx="1371600" cy="320040"/>
          </a:xfrm>
          <a:prstGeom prst="round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3639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진행 중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480560"/>
            <a:ext cx="320040" cy="320040"/>
          </a:xfrm>
          <a:prstGeom prst="ellipse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20840" y="4800600"/>
            <a:ext cx="45720" cy="594360"/>
          </a:xfrm>
          <a:prstGeom prst="rect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통합 테스트 &amp; QA</a:t>
            </a:r>
          </a:p>
        </p:txBody>
      </p:sp>
      <p:sp>
        <p:nvSpPr>
          <p:cNvPr id="49" name="Oval 48"/>
          <p:cNvSpPr/>
          <p:nvPr/>
        </p:nvSpPr>
        <p:spPr>
          <a:xfrm>
            <a:off x="6583680" y="5257800"/>
            <a:ext cx="320040" cy="320040"/>
          </a:xfrm>
          <a:prstGeom prst="ellipse">
            <a:avLst/>
          </a:prstGeom>
          <a:solidFill>
            <a:srgbClr val="1E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FC4"/>
                </a:solidFill>
                <a:latin typeface="Calibri"/>
              </a:defRPr>
            </a:pPr>
            <a:r>
              <a:t>최종 발표 &amp; 문서화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A0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예상 문제점 — 악의적 사용자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5A0"/>
                </a:solidFill>
                <a:latin typeface="Calibri"/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가짜 보고서 등록  +  스팸 대량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0779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EIP-8004 기반 온체인 평판 시스템 → 허위/스팸 등록 시 평판 점수 차감, 누적 시 등록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5029200" cy="18288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31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악성 코드 삽입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36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109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IPFS 저장만 (실행 불가) + 입력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49039"/>
            <a:ext cx="5029200" cy="182880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749039"/>
            <a:ext cx="54864" cy="1828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31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유료인데 쓰레기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736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0109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신고/환불 정책 + EIP-8004 creator 평판 통계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105156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624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핵심:  무결성은 보장, 품질은 등록자 책임 (의도적 설계)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914400"/>
            <a:ext cx="5486400" cy="9144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164592" cy="164592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1828800" cy="2743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다음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300" b="0">
                <a:solidFill>
                  <a:srgbClr val="A0AFC4"/>
                </a:solidFill>
                <a:latin typeface="Calibri"/>
              </a:defRPr>
            </a:pPr>
            <a:r>
              <a:t>Phase 3: 프론트엔드 / CLI 데모 개발</a:t>
            </a:r>
          </a:p>
          <a:p>
            <a:pPr algn="l">
              <a:spcAft>
                <a:spcPts val="719"/>
              </a:spcAft>
              <a:defRPr sz="1300" b="0">
                <a:solidFill>
                  <a:srgbClr val="A0AFC4"/>
                </a:solidFill>
                <a:latin typeface="Calibri"/>
              </a:defRPr>
            </a:pPr>
            <a:r>
              <a:t>Agent A &lt;-&gt; ProofWeave API &lt;-&gt; Agent B 통합 테스트</a:t>
            </a:r>
          </a:p>
          <a:p>
            <a:pPr algn="l">
              <a:spcAft>
                <a:spcPts val="719"/>
              </a:spcAft>
              <a:defRPr sz="1300" b="0">
                <a:solidFill>
                  <a:srgbClr val="A0AFC4"/>
                </a:solidFill>
                <a:latin typeface="Calibri"/>
              </a:defRPr>
            </a:pPr>
            <a:r>
              <a:t>IPFS 연동 최종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760720"/>
            <a:ext cx="2286000" cy="457200"/>
          </a:xfrm>
          <a:prstGeom prst="round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779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 Black"/>
              </a:defRPr>
            </a:pPr>
            <a:r>
              <a:t>Q &amp;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FC4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